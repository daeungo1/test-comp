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1F5F9"/>
                </a:solidFill>
              </a:rPr>
              <a:t>ARB 자동화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78BFA"/>
                </a:solidFill>
              </a:rPr>
              <a:t>AI-Powered Architecture Review 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45720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KIRO CLI 기반 ARB 점검 자동화 및 Web UI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Cloud Operation Group  |  2026.06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371600"/>
            <a:ext cx="2743200" cy="2743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6459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7C6AF7"/>
                </a:solidFill>
              </a:rP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</a:rPr>
              <a:t>ARB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Review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6675120"/>
            <a:ext cx="12115800" cy="36576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720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Confidential  |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78BFA"/>
                </a:solidFill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73152" cy="12801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6AF7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</a:rPr>
              <a:t>배경 및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ARB 자동화의 필요성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530352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73152" cy="12801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6AF7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204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</a:rPr>
              <a:t>시스템 아키텍처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전체 구성 및 기술 스택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30352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73152" cy="12801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6AF7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</a:rPr>
              <a:t>KIRO CLI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Agent 구조 및 체크리스트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1463040"/>
            <a:ext cx="530352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1463040"/>
            <a:ext cx="73152" cy="12801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6AF7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</a:rPr>
              <a:t>Web UI 구현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대시보드 및 주요 기능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017520"/>
            <a:ext cx="530352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3017520"/>
            <a:ext cx="73152" cy="12801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6AF7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204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</a:rPr>
              <a:t>점검 결과 예시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886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실제 ARB 점검 결과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572000"/>
            <a:ext cx="5303520" cy="12801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572000"/>
            <a:ext cx="73152" cy="12801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663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6AF7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074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</a:rPr>
              <a:t>향후 계획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440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AgentCore 연동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01  Background &amp;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배경 및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011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2011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</a:rPr>
              <a:t>🔴  기존 ARB 점검의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수동 점검으로 인한 시간 소요 (평균 2~3일/건)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담당자별 점검 기준 불일치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15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체크리스트 누락 및 결과 문서화 부담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점검 이력 관리 어려움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73152" cy="20116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</a:rPr>
              <a:t>🟢  자동화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KIRO AI Agent 기반 자동 점검 수행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67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표준화된 체크리스트 기반 일관된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15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Web UI를 통한 점검 요청 및 결과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626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점검 이력 및 개선 추이 대시보드 제공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3657600" cy="2560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</a:rPr>
              <a:t>⏱️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점검 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09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2~3일 → 30~60분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C6AF7"/>
                </a:solidFill>
              </a:rPr>
              <a:t>80% 단축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657600"/>
            <a:ext cx="3657600" cy="2560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657600"/>
            <a:ext cx="36576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일관성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709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담당자 무관
표준화된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100% 표준화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657600"/>
            <a:ext cx="3657600" cy="2560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657600"/>
            <a:ext cx="36576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가시성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709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실시간 대시보드
이력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</a:rPr>
              <a:t>즉시 조회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02  Full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전체 시스템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011680" cy="2011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01168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👥 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🌐 웹 브라우저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💬 Slack DM/멘션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371600"/>
            <a:ext cx="2743200" cy="2011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371600"/>
            <a:ext cx="27432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🖥️ Frontend (React)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87451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📊 대시보드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87451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🔍 ARB 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212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📋 히스토리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2128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📄 리포트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5511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📖 운영가이드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5511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💰 비용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118872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1188720"/>
            <a:ext cx="36576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</a:rPr>
              <a:t>🖥️ EC2 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1600200" cy="43891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170992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78BFA"/>
                </a:solidFill>
              </a:rPr>
              <a:t>FastAPI :8000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1691640"/>
            <a:ext cx="1600200" cy="43891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70992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nginx :80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194560"/>
            <a:ext cx="1600200" cy="43891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221284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D4BF"/>
                </a:solidFill>
              </a:rPr>
              <a:t>slack_bot.py
(Socket Mode)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194560"/>
            <a:ext cx="1600200" cy="43891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21284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B923C"/>
                </a:solidFill>
              </a:rPr>
              <a:t>kiro-cli
(arb-orchestrator)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697480"/>
            <a:ext cx="1600200" cy="43891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71576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SQLite arb.db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840480"/>
            <a:ext cx="3657600" cy="19202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3840480"/>
            <a:ext cx="36576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</a:rPr>
              <a:t>☁️ AWS Services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4343400"/>
            <a:ext cx="1051560" cy="82296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434340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A5FA"/>
                </a:solidFill>
              </a:rPr>
              <a:t>Bedrock
Nova Lite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0568" y="4343400"/>
            <a:ext cx="1051560" cy="82296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0568" y="434340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DD4BF"/>
                </a:solidFill>
              </a:rPr>
              <a:t>Amazon
Translate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91856" y="4343400"/>
            <a:ext cx="1051560" cy="82296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91856" y="4343400"/>
            <a:ext cx="1051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DE80"/>
                </a:solidFill>
              </a:rPr>
              <a:t>Cost
Explorer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840480"/>
            <a:ext cx="2743200" cy="19202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0" y="3840480"/>
            <a:ext cx="27432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📚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343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knowledge_index.json
645개 문서 인덱스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983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OPSPROCESS_MD/docs/
(Confluence → MD)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1188720"/>
            <a:ext cx="256032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09760" y="1188720"/>
            <a:ext cx="25603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1234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</a:rPr>
              <a:t>🤖 ARB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78BFA"/>
                </a:solidFill>
              </a:rPr>
              <a:t>arb-orchestrator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infra agents ×7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database agents ×7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0312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78BFA"/>
                </a:solidFill>
              </a:rPr>
              <a:t>HTTP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78BFA"/>
                </a:solidFill>
              </a:rPr>
              <a:t>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D4BF"/>
                </a:solidFill>
              </a:rPr>
              <a:t>WSS
Socket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1920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B923C"/>
                </a:solidFill>
              </a:rPr>
              <a:t>subprocess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286000" y="2103120"/>
            <a:ext cx="274320" cy="0"/>
          </a:xfrm>
          <a:prstGeom prst="line">
            <a:avLst/>
          </a:prstGeom>
          <a:ln w="19050">
            <a:solidFill>
              <a:srgbClr val="7C6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03520" y="2103120"/>
            <a:ext cx="274320" cy="0"/>
          </a:xfrm>
          <a:prstGeom prst="line">
            <a:avLst/>
          </a:prstGeom>
          <a:ln w="19050">
            <a:solidFill>
              <a:srgbClr val="7C6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31520" y="2651760"/>
            <a:ext cx="4846320" cy="91440"/>
          </a:xfrm>
          <a:prstGeom prst="line">
            <a:avLst/>
          </a:prstGeom>
          <a:ln w="19050">
            <a:solidFill>
              <a:srgbClr val="7C6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235440" y="2103120"/>
            <a:ext cx="274320" cy="0"/>
          </a:xfrm>
          <a:prstGeom prst="line">
            <a:avLst/>
          </a:prstGeom>
          <a:ln w="19050">
            <a:solidFill>
              <a:srgbClr val="7C6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03  Agent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KIRO CLI Agent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3931920" cy="82296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</a:rPr>
              <a:t>🎯  arb-orchestrator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5303520" cy="457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53035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🏗️  인프라 도메인 (7 agents)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8488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devops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operation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service stability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8620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886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system stability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388620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18488" y="3886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diagram generator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62656" y="388620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62656" y="3886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improvement planner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743200"/>
            <a:ext cx="5303520" cy="457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743200"/>
            <a:ext cx="530352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🗄️  데이터베이스 도메인 (7 agents)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aurora-mysql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7848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aurora-postgres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72016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dynamodb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16184" y="329184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16184" y="329184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elasticache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88620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886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rds-mysql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7848" y="388620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3886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rds-postgres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3886200"/>
            <a:ext cx="1234440" cy="50292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2016" y="388620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2331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78BFA"/>
                </a:solidFill>
              </a:rPr>
              <a:t>↙  병렬 호출  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029200"/>
            <a:ext cx="2743200" cy="15544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502920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</a:rPr>
              <a:t>allowedTools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5486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fs_write/execute_bash
자동 승인으로 y/n 없음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5029200"/>
            <a:ext cx="2743200" cy="15544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6120" y="502920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</a:rPr>
              <a:t>병렬 실행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5486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최대 4개 sub-agent
동시 호출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5029200"/>
            <a:ext cx="2743200" cy="15544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502920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</a:rPr>
              <a:t>리포트 저장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5486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arb-reports/{service}/
{region}/{date}/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20" y="5029200"/>
            <a:ext cx="2743200" cy="15544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89720" y="502920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8972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</a:rPr>
              <a:t>summary.md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20" y="5486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점검 완료 후
자동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03  Checklist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ARB 체크리스트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인프라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34항목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Multi-AZ, VPC, Auto Scaling, HA/DR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시스템 안정성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6항목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240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성능/HA/DR 테스트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운영 적합성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15항목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모니터링, 백업, 장애 프로세스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DevOps 자동화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246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13항목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46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IaC, CI/CD 파이프라인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서비스 안정성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7490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78BFA"/>
                </a:solidFill>
              </a:rPr>
              <a:t>7항목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490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배포 전략, 커뮤니케이션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51960"/>
            <a:ext cx="5303520" cy="457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</a:rPr>
              <a:t>합계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F5F9"/>
                </a:solidFill>
              </a:rPr>
              <a:t>75항목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</a:rPr>
              <a:t>데이터베이스 체크리스트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73736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Aurora 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공통+전용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백업, 파라미터, 보안, 모니터링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24028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Aurora PostgreSQL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240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공통+전용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백업, 파라미터, 보안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74320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RDS MySQL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공통+전용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백업, 파라미터, 접근제어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24612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RDS PostgreSQL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246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공통+전용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3246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백업, 파라미터, 접근제어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749039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7490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DynamoDB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전용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3749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IAM, VPC Endpoint, 용량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251960"/>
            <a:ext cx="5303520" cy="45720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251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ElastiCache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251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0A5FA"/>
                </a:solidFill>
              </a:rPr>
              <a:t>전용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4251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암호화, 백업, 클러스터 구성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029200"/>
            <a:ext cx="11155680" cy="15544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5760" y="5029200"/>
            <a:ext cx="1115568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판정 기준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✅  PASS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모든 도메인에서 Critical FAIL 0건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❌  FAIL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어느 도메인이든 Critical FAIL 1건 이상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⚠️  N/A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arb-config.md 미선언 또는 리소스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04  Web UI · Chat · 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Web UI &amp; AI 채팅 / Slack 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6AF7"/>
                </a:solidFill>
              </a:rPr>
              <a:t>📊 ARB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연간 비용+점검 복합 차트
프로젝트별 FAIL 추이
계정 기준 중복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🔍 ARB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서비스/계정/리전 입력
SSE 실시간 로그
전체 리전 자동 탐지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</a:rPr>
              <a:t>📋 히스토리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점검 이력 + 결과 요약
로그/리포트 바로가기
Slack 점검도 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36576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</a:rPr>
              <a:t>📄 리포트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Summary/Infra/DB 트리
FAIL 클릭→가이드 이동
Mermaid 다이어그램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931920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</a:rPr>
              <a:t>📖 운영가이드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720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645개 Knowledge 트리
Check ID별 문서 배지
Amazon Translate 번역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931920"/>
            <a:ext cx="3657600" cy="237744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931920"/>
            <a:ext cx="36576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💬 RAG 채팅 패널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720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Bedrock Nova Lite
리포트+가이드 동시 참조
한/영 언어 자동 전환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</a:rPr>
              <a:t>💬 Slack Bot (Socket Mode): DM/멘션으로 일반 질의(RAG 즉답) 또는 ARB 점검 요청 → 완료 시 결과 전송 + Web UI 히스토리 동기화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05  Knowledge Guide + AI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운영 가이드 &amp; RAG 채팅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486400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</a:rPr>
              <a:t>📖 운영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645개 내부 Knowledge 문서 기반 (Confluence → MD)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ARB 8개 카테고리 트리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- 인프라 아키텍처 / Auto Scaling / 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23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- 백업DR / DevOps / DB공통 / Aurora / 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56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Check ID별 관련 문서 수 배지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키워드 AND 조합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한/영 번역 (Amazon Translate)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085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FAIL 항목 → 관련 가이드 자동 매핑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💬 RAG 채팅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모델: Amazon Bedrock Nova 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04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컨텍스트: Knowledge top-3 + 리포트 발췌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883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제약: 내부 문서 외 답변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723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위치: 리포트 탭 + 운영 가이드 탭 우측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56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SSE 스트리밍 (타이핑 효과)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• 한/영 답변 자동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2245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085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⚡ 질문 예시: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92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"ARCH-011 FAIL 원인과 개선 방법은?"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3766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  "Multi-AZ 구성 가이드 알려줘"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78BFA"/>
                </a:solidFill>
              </a:rPr>
              <a:t>05  Slack Integration  |  Socket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</a:rPr>
              <a:t>Slack Bot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430000" cy="27432"/>
          </a:xfrm>
          <a:prstGeom prst="rect">
            <a:avLst/>
          </a:prstGeom>
          <a:solidFill>
            <a:srgbClr val="2D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182880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0352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💬 Slack → EC2 연동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Slack DM / @mention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  ↓  WebSocket (Socket Mode, 포트 오픈 불필요)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865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slack_bot.py  →  점검 요청 판별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4261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  ├── 일반 질의  →  Knowledge 검색  →  Nova Lite  →  즉답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98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  └── 점검 요청  →  kiro-cli  →  완료 시 결과 전송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4320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463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6AF7"/>
                </a:solidFill>
              </a:rPr>
              <a:t>🔌 Socket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포트 오픈 불필요
EC2 → Slack 아웃바운드만
방화벽 변경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74320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371600"/>
            <a:ext cx="274320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</a:rPr>
              <a:t>🔀 자동 분기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920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12자리 계정ID 감지
또는 '점검해줘' 패턴
→ RAG / ARB 자동 선택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74320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291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</a:rPr>
              <a:t>🔗 DB 연동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Slack 점검도 SQLite 기록
→ Web UI 대시보드 집계
→ 히스토리 탭 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200400"/>
            <a:ext cx="2743200" cy="16459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7432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3291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</a:rPr>
              <a:t>🧠 공통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74903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Web UI와 동일 엔진
Knowledge 인덱스 공유
내부 문서 외 답변 금지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83280"/>
            <a:ext cx="11430000" cy="2560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383280"/>
            <a:ext cx="114300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</a:rPr>
              <a:t>📱 Slack 사용 예시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</a:rPr>
              <a:t>💬 일반 질의 (즉답)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Multi-AZ 구성 방법 알려줘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5994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ARCH-011 FAIL 원인은?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469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RDS 백업 정책 가이드 보여줘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</a:rPr>
              <a:t>🔍 ARB 점검 요청 (20~60분)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2519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myservice 123456789012 ap-northeast-2 점검해줘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5994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ARB 점검 myservice 123456789012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49469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→ 완료 시 요약 결과 Slack 전송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</a:rPr>
              <a:t>🤖 응답 특징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2519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호칭 없이 바로 답변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5994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내부 운영가이드 문서만 참조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9469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한국어 기본, 영어 질문→영어 답변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1F5F9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78BFA"/>
                </a:solidFill>
              </a:rPr>
              <a:t>ARB 자동화 시스템  |  Cloud Operation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45720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383280"/>
            <a:ext cx="320040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3200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14개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ARB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383280"/>
            <a:ext cx="320040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3383280"/>
            <a:ext cx="3200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289개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체크리스트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383280"/>
            <a:ext cx="320040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383280"/>
            <a:ext cx="3200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6탭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Web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937760"/>
            <a:ext cx="320040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937760"/>
            <a:ext cx="3200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645개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Knowledge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937760"/>
            <a:ext cx="320040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4937760"/>
            <a:ext cx="3200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Nova 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RAG 채팅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937760"/>
            <a:ext cx="3200400" cy="14173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937760"/>
            <a:ext cx="320040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Slack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Bot 연동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263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http://aiops-kiro-alb-apne2-dev-671493857.ap-northeast-2.elb.amazonaws.com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