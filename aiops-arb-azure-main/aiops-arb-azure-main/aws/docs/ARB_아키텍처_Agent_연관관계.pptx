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54864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</a:rPr>
              <a:t>ARB 자동화 시스템 — Agent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91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78BFA"/>
                </a:solidFill>
              </a:rPr>
              <a:t>KIRO CLI + Bedrock + Slack + Web UI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31520"/>
            <a:ext cx="2011680" cy="2560320"/>
          </a:xfrm>
          <a:prstGeom prst="rect">
            <a:avLst/>
          </a:prstGeom>
          <a:solidFill>
            <a:srgbClr val="1E1A3A"/>
          </a:solidFill>
          <a:ln w="12700">
            <a:solidFill>
              <a:srgbClr val="7C6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777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78BFA"/>
                </a:solidFill>
              </a:rPr>
              <a:t>👥 사용자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1645920" cy="502920"/>
          </a:xfrm>
          <a:prstGeom prst="rect">
            <a:avLst/>
          </a:prstGeom>
          <a:solidFill>
            <a:srgbClr val="2D3148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344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</a:rPr>
              <a:t>🌐 Web Browser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28800"/>
            <a:ext cx="1645920" cy="502920"/>
          </a:xfrm>
          <a:prstGeom prst="rect">
            <a:avLst/>
          </a:prstGeom>
          <a:solidFill>
            <a:srgbClr val="2D314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87451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</a:rPr>
              <a:t>💬 Slack DM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468880"/>
            <a:ext cx="1645920" cy="502920"/>
          </a:xfrm>
          <a:prstGeom prst="rect">
            <a:avLst/>
          </a:prstGeom>
          <a:solidFill>
            <a:srgbClr val="2D3148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5146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</a:rPr>
              <a:t>💻 CLI (kiro-cli)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731520"/>
            <a:ext cx="5303520" cy="6858000"/>
          </a:xfrm>
          <a:prstGeom prst="rect">
            <a:avLst/>
          </a:prstGeom>
          <a:solidFill>
            <a:srgbClr val="121420"/>
          </a:solidFill>
          <a:ln w="254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777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4A3B8"/>
                </a:solidFill>
              </a:rPr>
              <a:t>🖥️  EC2 (kiro-work)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188720"/>
            <a:ext cx="2011680" cy="502920"/>
          </a:xfrm>
          <a:prstGeom prst="rect">
            <a:avLst/>
          </a:prstGeom>
          <a:solidFill>
            <a:srgbClr val="2D3148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1234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DE80"/>
                </a:solidFill>
              </a:rPr>
              <a:t>⚖️ nginx :80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1920240"/>
            <a:ext cx="2011680" cy="640080"/>
          </a:xfrm>
          <a:prstGeom prst="rect">
            <a:avLst/>
          </a:prstGeom>
          <a:solidFill>
            <a:srgbClr val="2D3148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1965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0A5FA"/>
                </a:solidFill>
              </a:rPr>
              <a:t>⚡ FastAPI
:8000 (uvicorn)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743200"/>
            <a:ext cx="2011680" cy="502920"/>
          </a:xfrm>
          <a:prstGeom prst="rect">
            <a:avLst/>
          </a:prstGeom>
          <a:solidFill>
            <a:srgbClr val="2D3148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27889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B923C"/>
                </a:solidFill>
              </a:rPr>
              <a:t>🗄️ SQLite (arb.db)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3429000"/>
            <a:ext cx="2011680" cy="502920"/>
          </a:xfrm>
          <a:prstGeom prst="rect">
            <a:avLst/>
          </a:prstGeom>
          <a:solidFill>
            <a:srgbClr val="2D314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3474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D4BF"/>
                </a:solidFill>
              </a:rPr>
              <a:t>⚛️ React (dist/)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4114800"/>
            <a:ext cx="2011680" cy="640080"/>
          </a:xfrm>
          <a:prstGeom prst="rect">
            <a:avLst/>
          </a:prstGeom>
          <a:solidFill>
            <a:srgbClr val="2D314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4160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D4BF"/>
                </a:solidFill>
              </a:rPr>
              <a:t>💬 slack_bot.py
(Socket Mode)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4937760"/>
            <a:ext cx="2011680" cy="502920"/>
          </a:xfrm>
          <a:prstGeom prst="rect">
            <a:avLst/>
          </a:prstGeom>
          <a:solidFill>
            <a:srgbClr val="2D3148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49834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📁 arb-reports/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5577840"/>
            <a:ext cx="2011680" cy="502920"/>
          </a:xfrm>
          <a:prstGeom prst="rect">
            <a:avLst/>
          </a:prstGeom>
          <a:solidFill>
            <a:srgbClr val="2D3148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5577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📚 knowledge_index
.json (645 docs)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1188720"/>
            <a:ext cx="2560320" cy="5943600"/>
          </a:xfrm>
          <a:prstGeom prst="rect">
            <a:avLst/>
          </a:prstGeom>
          <a:solidFill>
            <a:srgbClr val="1F1A0F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1234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B923C"/>
                </a:solidFill>
              </a:rPr>
              <a:t>🤖 KIRO CLI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1691640"/>
            <a:ext cx="2286000" cy="5943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17373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1F5F9"/>
                </a:solidFill>
              </a:rPr>
              <a:t>arb-orchestrator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4920" y="2468880"/>
            <a:ext cx="2286000" cy="274320"/>
          </a:xfrm>
          <a:prstGeom prst="rect">
            <a:avLst/>
          </a:prstGeom>
          <a:solidFill>
            <a:srgbClr val="2D3148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48716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0A5FA"/>
                </a:solidFill>
              </a:rPr>
              <a:t>인프라 도메인 (7 agents)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74920" y="2788920"/>
            <a:ext cx="228600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74920" y="280720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infra-architecture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3200400"/>
            <a:ext cx="228600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321868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infra-devops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74920" y="3611879"/>
            <a:ext cx="228600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363016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infra-operation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74920" y="4023360"/>
            <a:ext cx="228600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74920" y="404164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infra-service-stability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74920" y="4434840"/>
            <a:ext cx="228600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45312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infra-system-stability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74920" y="4846320"/>
            <a:ext cx="228600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486460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infra-diagram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74920" y="5257800"/>
            <a:ext cx="228600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74920" y="527608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infra-improvement-planner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74920" y="5715000"/>
            <a:ext cx="2286000" cy="274320"/>
          </a:xfrm>
          <a:prstGeom prst="rect">
            <a:avLst/>
          </a:prstGeom>
          <a:solidFill>
            <a:srgbClr val="2D314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573328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DD4BF"/>
                </a:solidFill>
              </a:rPr>
              <a:t>DB 도메인 (7 agents)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74920" y="6035040"/>
            <a:ext cx="1097280" cy="137160"/>
          </a:xfrm>
          <a:prstGeom prst="rect">
            <a:avLst/>
          </a:prstGeom>
          <a:solidFill>
            <a:srgbClr val="0F2A25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74920" y="6044184"/>
            <a:ext cx="10972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</a:rPr>
              <a:t>aurora-mysql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74920" y="6190488"/>
            <a:ext cx="1097280" cy="137160"/>
          </a:xfrm>
          <a:prstGeom prst="rect">
            <a:avLst/>
          </a:prstGeom>
          <a:solidFill>
            <a:srgbClr val="0F2A25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74920" y="6199632"/>
            <a:ext cx="10972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</a:rPr>
              <a:t>aurora-postgres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74920" y="6345936"/>
            <a:ext cx="1097280" cy="137160"/>
          </a:xfrm>
          <a:prstGeom prst="rect">
            <a:avLst/>
          </a:prstGeom>
          <a:solidFill>
            <a:srgbClr val="0F2A25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74920" y="6355080"/>
            <a:ext cx="10972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</a:rPr>
              <a:t>dynamodb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74920" y="6501383"/>
            <a:ext cx="1097280" cy="137160"/>
          </a:xfrm>
          <a:prstGeom prst="rect">
            <a:avLst/>
          </a:prstGeom>
          <a:solidFill>
            <a:srgbClr val="0F2A25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74920" y="6510528"/>
            <a:ext cx="10972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</a:rPr>
              <a:t>elasticache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6035040"/>
            <a:ext cx="1143000" cy="137160"/>
          </a:xfrm>
          <a:prstGeom prst="rect">
            <a:avLst/>
          </a:prstGeom>
          <a:solidFill>
            <a:srgbClr val="0F2A25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0" y="6044184"/>
            <a:ext cx="11430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</a:rPr>
              <a:t>rds-mysql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6190488"/>
            <a:ext cx="1143000" cy="137160"/>
          </a:xfrm>
          <a:prstGeom prst="rect">
            <a:avLst/>
          </a:prstGeom>
          <a:solidFill>
            <a:srgbClr val="0F2A25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0" y="6199632"/>
            <a:ext cx="11430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</a:rPr>
              <a:t>rds-postgres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6345936"/>
            <a:ext cx="1143000" cy="137160"/>
          </a:xfrm>
          <a:prstGeom prst="rect">
            <a:avLst/>
          </a:prstGeom>
          <a:solidFill>
            <a:srgbClr val="0F2A25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17920" y="6355080"/>
            <a:ext cx="11430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</a:rPr>
              <a:t>verify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29600" y="731520"/>
            <a:ext cx="3657600" cy="6858000"/>
          </a:xfrm>
          <a:prstGeom prst="rect">
            <a:avLst/>
          </a:prstGeom>
          <a:solidFill>
            <a:srgbClr val="0F1A2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75320" y="777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0A5FA"/>
                </a:solidFill>
              </a:rPr>
              <a:t>☁️  AWS Services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12480" y="1188720"/>
            <a:ext cx="3200400" cy="594360"/>
          </a:xfrm>
          <a:prstGeom prst="rect">
            <a:avLst/>
          </a:prstGeom>
          <a:solidFill>
            <a:srgbClr val="2D3148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80" y="1234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A5FA"/>
                </a:solidFill>
              </a:rPr>
              <a:t>🔐 IAM
(ARB-ReadOnly-Role)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12480" y="2011680"/>
            <a:ext cx="3200400" cy="594360"/>
          </a:xfrm>
          <a:prstGeom prst="rect">
            <a:avLst/>
          </a:prstGeom>
          <a:solidFill>
            <a:srgbClr val="2D3148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12480" y="2057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A5FA"/>
                </a:solidFill>
              </a:rPr>
              <a:t>🌐 ALB
(:80, 사내IP)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412480" y="2834640"/>
            <a:ext cx="3200400" cy="594360"/>
          </a:xfrm>
          <a:prstGeom prst="rect">
            <a:avLst/>
          </a:prstGeom>
          <a:solidFill>
            <a:srgbClr val="2D3148"/>
          </a:solidFill>
          <a:ln w="12700">
            <a:solidFill>
              <a:srgbClr val="7C6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12480" y="28803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C6AF7"/>
                </a:solidFill>
              </a:rPr>
              <a:t>🧠 Bedrock Nova Lite
(us-east-1, RAG 채팅)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412480" y="3657600"/>
            <a:ext cx="3200400" cy="594360"/>
          </a:xfrm>
          <a:prstGeom prst="rect">
            <a:avLst/>
          </a:prstGeom>
          <a:solidFill>
            <a:srgbClr val="2D3148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12480" y="3703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DE80"/>
                </a:solidFill>
              </a:rPr>
              <a:t>🌍 Amazon Translate
(한/영 번역)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12480" y="4480560"/>
            <a:ext cx="3200400" cy="594360"/>
          </a:xfrm>
          <a:prstGeom prst="rect">
            <a:avLst/>
          </a:prstGeom>
          <a:solidFill>
            <a:srgbClr val="2D3148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12480" y="4526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B923C"/>
                </a:solidFill>
              </a:rPr>
              <a:t>💰 Cost Explorer
(비용 현황)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412480" y="5303520"/>
            <a:ext cx="3200400" cy="594360"/>
          </a:xfrm>
          <a:prstGeom prst="rect">
            <a:avLst/>
          </a:prstGeom>
          <a:solidFill>
            <a:srgbClr val="2D3148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12480" y="53492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87171"/>
                </a:solidFill>
              </a:rPr>
              <a:t>🎯 Target AWS
(점검 대상 계정)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412480" y="6126480"/>
            <a:ext cx="3200400" cy="594360"/>
          </a:xfrm>
          <a:prstGeom prst="rect">
            <a:avLst/>
          </a:prstGeom>
          <a:solidFill>
            <a:srgbClr val="2D314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12480" y="6172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DD4BF"/>
                </a:solidFill>
              </a:rPr>
              <a:t>📊 CloudWatch/RDS
/EKS/DynamoDB...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2161520" y="731520"/>
            <a:ext cx="2194560" cy="2286000"/>
          </a:xfrm>
          <a:prstGeom prst="rect">
            <a:avLst/>
          </a:prstGeom>
          <a:solidFill>
            <a:srgbClr val="141A14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2207240" y="777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ADE80"/>
                </a:solidFill>
              </a:rPr>
              <a:t>📦 GitHub
(intelligent-cloudops)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2298680" y="1234440"/>
            <a:ext cx="1828800" cy="411480"/>
          </a:xfrm>
          <a:prstGeom prst="rect">
            <a:avLst/>
          </a:prstGeom>
          <a:solidFill>
            <a:srgbClr val="2D3148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2298680" y="1261872"/>
            <a:ext cx="1828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branch: main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2298680" y="1737360"/>
            <a:ext cx="1828800" cy="411480"/>
          </a:xfrm>
          <a:prstGeom prst="rect">
            <a:avLst/>
          </a:prstGeom>
          <a:solidFill>
            <a:srgbClr val="2D3148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2298680" y="1764792"/>
            <a:ext cx="1828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branch: feat/webfront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2161520" y="3291840"/>
            <a:ext cx="2194560" cy="914400"/>
          </a:xfrm>
          <a:prstGeom prst="rect">
            <a:avLst/>
          </a:prstGeom>
          <a:solidFill>
            <a:srgbClr val="1E1A3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2207240" y="33375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DD4BF"/>
                </a:solidFill>
              </a:rPr>
              <a:t>💬 Slack App
(ARB Assistant Bot)
Socket Mode WSS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2194560" y="1435608"/>
            <a:ext cx="6035040" cy="896112"/>
          </a:xfrm>
          <a:prstGeom prst="line">
            <a:avLst/>
          </a:prstGeom>
          <a:ln w="1905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4572000" y="1463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A5FA"/>
                </a:solidFill>
              </a:rPr>
              <a:t>HTTP/80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2194560" y="2075688"/>
            <a:ext cx="548640" cy="2313432"/>
          </a:xfrm>
          <a:prstGeom prst="line">
            <a:avLst/>
          </a:prstGeom>
          <a:ln w="1905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194560" y="1920240"/>
            <a:ext cx="2743200" cy="795528"/>
          </a:xfrm>
          <a:prstGeom prst="line">
            <a:avLst/>
          </a:prstGeom>
          <a:ln w="1905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4754880" y="1965960"/>
            <a:ext cx="182880" cy="274320"/>
          </a:xfrm>
          <a:prstGeom prst="line">
            <a:avLst/>
          </a:prstGeom>
          <a:ln w="1905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863840" y="2240280"/>
            <a:ext cx="365760" cy="896112"/>
          </a:xfrm>
          <a:prstGeom prst="line">
            <a:avLst/>
          </a:prstGeom>
          <a:ln w="19050">
            <a:solidFill>
              <a:srgbClr val="7C6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863840" y="2240280"/>
            <a:ext cx="365760" cy="1709928"/>
          </a:xfrm>
          <a:prstGeom prst="line">
            <a:avLst/>
          </a:prstGeom>
          <a:ln w="190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863840" y="2240280"/>
            <a:ext cx="365760" cy="2532888"/>
          </a:xfrm>
          <a:prstGeom prst="line">
            <a:avLst/>
          </a:prstGeom>
          <a:ln w="1905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680960" y="3749039"/>
            <a:ext cx="548640" cy="1847089"/>
          </a:xfrm>
          <a:prstGeom prst="line">
            <a:avLst/>
          </a:prstGeom>
          <a:ln w="1905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2743200" y="1435608"/>
            <a:ext cx="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4754880" y="3749039"/>
            <a:ext cx="7406640" cy="640081"/>
          </a:xfrm>
          <a:prstGeom prst="line">
            <a:avLst/>
          </a:prstGeom>
          <a:ln w="1905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182880" y="7132320"/>
            <a:ext cx="14173200" cy="822960"/>
          </a:xfrm>
          <a:prstGeom prst="rect">
            <a:avLst/>
          </a:prstGeom>
          <a:solidFill>
            <a:srgbClr val="0A0C14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65760" y="72054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78BFA"/>
                </a:solidFill>
              </a:rPr>
              <a:t>🟣 Orchestrator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97479" y="72054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A5FA"/>
                </a:solidFill>
              </a:rPr>
              <a:t>🔵 Infra Agents (7)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029200" y="72054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D4BF"/>
                </a:solidFill>
              </a:rPr>
              <a:t>🟢 DB Agents (7)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360919" y="72054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B923C"/>
                </a:solidFill>
              </a:rPr>
              <a:t>🟠 AWS Services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692640" y="72054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⬛ EC2 Runtime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024360" y="72054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87171"/>
                </a:solidFill>
              </a:rPr>
              <a:t>🔴 Target Infra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